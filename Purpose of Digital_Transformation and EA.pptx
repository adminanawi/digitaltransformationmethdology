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14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84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0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e Sampson" userId="740141ae184d7707" providerId="LiveId" clId="{AC69B4E4-FC9A-47C1-9EE5-0025ABA70C6E}"/>
    <pc:docChg chg="custSel modSld">
      <pc:chgData name="Eugene Sampson" userId="740141ae184d7707" providerId="LiveId" clId="{AC69B4E4-FC9A-47C1-9EE5-0025ABA70C6E}" dt="2026-07-22T18:10:12.429" v="266" actId="14100"/>
      <pc:docMkLst>
        <pc:docMk/>
      </pc:docMkLst>
      <pc:sldChg chg="modSp mod">
        <pc:chgData name="Eugene Sampson" userId="740141ae184d7707" providerId="LiveId" clId="{AC69B4E4-FC9A-47C1-9EE5-0025ABA70C6E}" dt="2026-07-22T18:09:02.560" v="262" actId="404"/>
        <pc:sldMkLst>
          <pc:docMk/>
          <pc:sldMk cId="0" sldId="257"/>
        </pc:sldMkLst>
        <pc:spChg chg="mod">
          <ac:chgData name="Eugene Sampson" userId="740141ae184d7707" providerId="LiveId" clId="{AC69B4E4-FC9A-47C1-9EE5-0025ABA70C6E}" dt="2026-07-22T18:06:48.368" v="238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6:30.087" v="235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7:16.594" v="244" actId="40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7:11.489" v="243" actId="404"/>
          <ac:spMkLst>
            <pc:docMk/>
            <pc:sldMk cId="0" sldId="257"/>
            <ac:spMk id="20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7:21.859" v="246" actId="403"/>
          <ac:spMkLst>
            <pc:docMk/>
            <pc:sldMk cId="0" sldId="257"/>
            <ac:spMk id="25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6:19.505" v="233" actId="14100"/>
          <ac:spMkLst>
            <pc:docMk/>
            <pc:sldMk cId="0" sldId="257"/>
            <ac:spMk id="26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7:38.747" v="248" actId="403"/>
          <ac:spMkLst>
            <pc:docMk/>
            <pc:sldMk cId="0" sldId="257"/>
            <ac:spMk id="31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7:43.259" v="250" actId="403"/>
          <ac:spMkLst>
            <pc:docMk/>
            <pc:sldMk cId="0" sldId="257"/>
            <ac:spMk id="38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7:52.111" v="252" actId="403"/>
          <ac:spMkLst>
            <pc:docMk/>
            <pc:sldMk cId="0" sldId="257"/>
            <ac:spMk id="47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7:58.027" v="254" actId="403"/>
          <ac:spMkLst>
            <pc:docMk/>
            <pc:sldMk cId="0" sldId="257"/>
            <ac:spMk id="58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6:11.337" v="231" actId="14100"/>
          <ac:spMkLst>
            <pc:docMk/>
            <pc:sldMk cId="0" sldId="257"/>
            <ac:spMk id="65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68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25.577" v="256" actId="255"/>
          <ac:spMkLst>
            <pc:docMk/>
            <pc:sldMk cId="0" sldId="257"/>
            <ac:spMk id="70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25.577" v="256" actId="255"/>
          <ac:spMkLst>
            <pc:docMk/>
            <pc:sldMk cId="0" sldId="257"/>
            <ac:spMk id="72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73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74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76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78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25.577" v="256" actId="255"/>
          <ac:spMkLst>
            <pc:docMk/>
            <pc:sldMk cId="0" sldId="257"/>
            <ac:spMk id="79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80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25.577" v="256" actId="255"/>
          <ac:spMkLst>
            <pc:docMk/>
            <pc:sldMk cId="0" sldId="257"/>
            <ac:spMk id="82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83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25.577" v="256" actId="255"/>
          <ac:spMkLst>
            <pc:docMk/>
            <pc:sldMk cId="0" sldId="257"/>
            <ac:spMk id="84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85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86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8:39.346" v="257" actId="255"/>
          <ac:spMkLst>
            <pc:docMk/>
            <pc:sldMk cId="0" sldId="257"/>
            <ac:spMk id="87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9:02.560" v="262" actId="404"/>
          <ac:spMkLst>
            <pc:docMk/>
            <pc:sldMk cId="0" sldId="257"/>
            <ac:spMk id="90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5:53.907" v="229" actId="1076"/>
          <ac:spMkLst>
            <pc:docMk/>
            <pc:sldMk cId="0" sldId="257"/>
            <ac:spMk id="91" creationId="{00000000-0000-0000-0000-000000000000}"/>
          </ac:spMkLst>
        </pc:spChg>
      </pc:sldChg>
      <pc:sldChg chg="addSp delSp modSp mod">
        <pc:chgData name="Eugene Sampson" userId="740141ae184d7707" providerId="LiveId" clId="{AC69B4E4-FC9A-47C1-9EE5-0025ABA70C6E}" dt="2026-07-22T18:10:12.429" v="266" actId="14100"/>
        <pc:sldMkLst>
          <pc:docMk/>
          <pc:sldMk cId="0" sldId="314"/>
        </pc:sldMkLst>
        <pc:spChg chg="mod">
          <ac:chgData name="Eugene Sampson" userId="740141ae184d7707" providerId="LiveId" clId="{AC69B4E4-FC9A-47C1-9EE5-0025ABA70C6E}" dt="2026-07-22T18:01:55.296" v="14" actId="1076"/>
          <ac:spMkLst>
            <pc:docMk/>
            <pc:sldMk cId="0" sldId="314"/>
            <ac:spMk id="3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2:06.960" v="17" actId="14100"/>
          <ac:spMkLst>
            <pc:docMk/>
            <pc:sldMk cId="0" sldId="314"/>
            <ac:spMk id="4" creationId="{00000000-0000-0000-0000-000000000000}"/>
          </ac:spMkLst>
        </pc:spChg>
        <pc:spChg chg="del mod">
          <ac:chgData name="Eugene Sampson" userId="740141ae184d7707" providerId="LiveId" clId="{AC69B4E4-FC9A-47C1-9EE5-0025ABA70C6E}" dt="2026-07-22T18:00:27.845" v="2" actId="478"/>
          <ac:spMkLst>
            <pc:docMk/>
            <pc:sldMk cId="0" sldId="314"/>
            <ac:spMk id="5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0:15.358" v="1" actId="14100"/>
          <ac:spMkLst>
            <pc:docMk/>
            <pc:sldMk cId="0" sldId="314"/>
            <ac:spMk id="7" creationId="{00000000-0000-0000-0000-000000000000}"/>
          </ac:spMkLst>
        </pc:spChg>
        <pc:spChg chg="del">
          <ac:chgData name="Eugene Sampson" userId="740141ae184d7707" providerId="LiveId" clId="{AC69B4E4-FC9A-47C1-9EE5-0025ABA70C6E}" dt="2026-07-22T18:00:32.816" v="3" actId="478"/>
          <ac:spMkLst>
            <pc:docMk/>
            <pc:sldMk cId="0" sldId="314"/>
            <ac:spMk id="8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0:50.202" v="5" actId="403"/>
          <ac:spMkLst>
            <pc:docMk/>
            <pc:sldMk cId="0" sldId="314"/>
            <ac:spMk id="13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1:01.152" v="6" actId="207"/>
          <ac:spMkLst>
            <pc:docMk/>
            <pc:sldMk cId="0" sldId="314"/>
            <ac:spMk id="14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4:41.006" v="203" actId="403"/>
          <ac:spMkLst>
            <pc:docMk/>
            <pc:sldMk cId="0" sldId="314"/>
            <ac:spMk id="18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1:06.941" v="7" actId="207"/>
          <ac:spMkLst>
            <pc:docMk/>
            <pc:sldMk cId="0" sldId="314"/>
            <ac:spMk id="19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5:19.745" v="226" actId="20577"/>
          <ac:spMkLst>
            <pc:docMk/>
            <pc:sldMk cId="0" sldId="314"/>
            <ac:spMk id="23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1:06.941" v="7" actId="207"/>
          <ac:spMkLst>
            <pc:docMk/>
            <pc:sldMk cId="0" sldId="314"/>
            <ac:spMk id="24" creationId="{00000000-0000-0000-0000-000000000000}"/>
          </ac:spMkLst>
        </pc:spChg>
        <pc:spChg chg="mod">
          <ac:chgData name="Eugene Sampson" userId="740141ae184d7707" providerId="LiveId" clId="{AC69B4E4-FC9A-47C1-9EE5-0025ABA70C6E}" dt="2026-07-22T18:01:30.914" v="13" actId="403"/>
          <ac:spMkLst>
            <pc:docMk/>
            <pc:sldMk cId="0" sldId="314"/>
            <ac:spMk id="28" creationId="{00000000-0000-0000-0000-000000000000}"/>
          </ac:spMkLst>
        </pc:spChg>
        <pc:spChg chg="del mod">
          <ac:chgData name="Eugene Sampson" userId="740141ae184d7707" providerId="LiveId" clId="{AC69B4E4-FC9A-47C1-9EE5-0025ABA70C6E}" dt="2026-07-22T18:05:47.323" v="228" actId="478"/>
          <ac:spMkLst>
            <pc:docMk/>
            <pc:sldMk cId="0" sldId="314"/>
            <ac:spMk id="29" creationId="{00000000-0000-0000-0000-000000000000}"/>
          </ac:spMkLst>
        </pc:spChg>
        <pc:spChg chg="add mod ord">
          <ac:chgData name="Eugene Sampson" userId="740141ae184d7707" providerId="LiveId" clId="{AC69B4E4-FC9A-47C1-9EE5-0025ABA70C6E}" dt="2026-07-22T18:10:12.429" v="266" actId="14100"/>
          <ac:spMkLst>
            <pc:docMk/>
            <pc:sldMk cId="0" sldId="314"/>
            <ac:spMk id="31" creationId="{429B551A-7465-D0E9-53C9-D9FB386D6E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05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gital Transformation Con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QuoteBG">
            <a:extLst>
              <a:ext uri="{FF2B5EF4-FFF2-40B4-BE49-F238E27FC236}">
                <a16:creationId xmlns:a16="http://schemas.microsoft.com/office/drawing/2014/main" id="{429B551A-7465-D0E9-53C9-D9FB386D6E90}"/>
              </a:ext>
            </a:extLst>
          </p:cNvPr>
          <p:cNvSpPr/>
          <p:nvPr/>
        </p:nvSpPr>
        <p:spPr>
          <a:xfrm>
            <a:off x="411216" y="836000"/>
            <a:ext cx="5200704" cy="5602240"/>
          </a:xfrm>
          <a:prstGeom prst="roundRect">
            <a:avLst>
              <a:gd name="adj" fmla="val 3000"/>
            </a:avLst>
          </a:prstGeom>
          <a:solidFill>
            <a:srgbClr val="F0FAF6"/>
          </a:solidFill>
          <a:ln w="952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" name="SecLabel"/>
          <p:cNvSpPr/>
          <p:nvPr/>
        </p:nvSpPr>
        <p:spPr>
          <a:xfrm>
            <a:off x="457200" y="137160"/>
            <a:ext cx="600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700" b="1" kern="0" spc="100" dirty="0">
                <a:solidFill>
                  <a:srgbClr val="8FD9C0"/>
                </a:solidFill>
                <a:latin typeface="Arial" pitchFamily="34" charset="0"/>
              </a:rPr>
              <a:t>THE CONTEXT  ·  DIGITAL TRANSFORMATION</a:t>
            </a:r>
          </a:p>
        </p:txBody>
      </p:sp>
      <p:sp>
        <p:nvSpPr>
          <p:cNvPr id="3" name="Title"/>
          <p:cNvSpPr/>
          <p:nvPr/>
        </p:nvSpPr>
        <p:spPr>
          <a:xfrm>
            <a:off x="298200" y="17948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2200" b="1" dirty="0">
                <a:solidFill>
                  <a:srgbClr val="085041"/>
                </a:solidFill>
                <a:latin typeface="Arial" pitchFamily="34" charset="0"/>
              </a:rPr>
              <a:t>Digital transformation — the vehicle for performance excellence in government</a:t>
            </a:r>
          </a:p>
        </p:txBody>
      </p:sp>
      <p:sp>
        <p:nvSpPr>
          <p:cNvPr id="4" name="Subtitle"/>
          <p:cNvSpPr/>
          <p:nvPr/>
        </p:nvSpPr>
        <p:spPr>
          <a:xfrm>
            <a:off x="298200" y="455732"/>
            <a:ext cx="1176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1000" b="1" i="1" dirty="0">
                <a:solidFill>
                  <a:srgbClr val="5B6660"/>
                </a:solidFill>
                <a:latin typeface="Arial" pitchFamily="34" charset="0"/>
              </a:rPr>
              <a:t>Sound architecture, a well-endowed enabling environment, and robust digital public infrastructure combine to eliminate silos, lower transactional costs, and build lasting delivery capability.</a:t>
            </a:r>
          </a:p>
        </p:txBody>
      </p:sp>
      <p:sp>
        <p:nvSpPr>
          <p:cNvPr id="6" name="QuoteMark"/>
          <p:cNvSpPr/>
          <p:nvPr/>
        </p:nvSpPr>
        <p:spPr>
          <a:xfrm>
            <a:off x="639192" y="1005840"/>
            <a:ext cx="10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ZA" sz="5600" b="1" dirty="0">
                <a:solidFill>
                  <a:srgbClr val="1D9E75">
                    <a:alpha val="40000"/>
                  </a:srgbClr>
                </a:solidFill>
                <a:latin typeface="Arial" pitchFamily="34" charset="0"/>
              </a:rPr>
              <a:t>“</a:t>
            </a:r>
          </a:p>
        </p:txBody>
      </p:sp>
      <p:sp>
        <p:nvSpPr>
          <p:cNvPr id="7" name="QuoteText"/>
          <p:cNvSpPr/>
          <p:nvPr/>
        </p:nvSpPr>
        <p:spPr>
          <a:xfrm>
            <a:off x="639192" y="1478520"/>
            <a:ext cx="3586444" cy="3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ZA" sz="1150" dirty="0">
                <a:solidFill>
                  <a:srgbClr val="1A1F1C"/>
                </a:solidFill>
                <a:latin typeface="Arial" pitchFamily="34" charset="0"/>
              </a:rPr>
              <a:t>True digital transformation serves as the vehicle for building exemplary, high-performing public institutions. Powered by sound enterprise architecture, a well-endowed enabling environment, and </a:t>
            </a:r>
            <a:r>
              <a:rPr lang="en-ZA" sz="1150" b="1" dirty="0">
                <a:solidFill>
                  <a:srgbClr val="085041"/>
                </a:solidFill>
                <a:latin typeface="Arial" pitchFamily="34" charset="0"/>
              </a:rPr>
              <a:t>robust digital public infrastructure (DPI), it eliminates bureaucratic silos through secure interoperability while drastically lowering transactional costs.</a:t>
            </a:r>
          </a:p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lang="en-ZA" sz="1150" dirty="0">
                <a:solidFill>
                  <a:srgbClr val="1A1F1C"/>
                </a:solidFill>
                <a:latin typeface="Arial" pitchFamily="34" charset="0"/>
              </a:rPr>
              <a:t>Far beyond a mere technological upgrade, digital transformation is a holistic practice that leverages DPI to drive comprehensive organisational evolution, </a:t>
            </a:r>
            <a:r>
              <a:rPr lang="en-ZA" sz="1150" b="1" dirty="0">
                <a:solidFill>
                  <a:srgbClr val="085041"/>
                </a:solidFill>
                <a:latin typeface="Arial" pitchFamily="34" charset="0"/>
              </a:rPr>
              <a:t>heightened public trust, and inclusive performance excellence.</a:t>
            </a:r>
          </a:p>
        </p:txBody>
      </p:sp>
      <p:sp>
        <p:nvSpPr>
          <p:cNvPr id="9" name="RightHeader"/>
          <p:cNvSpPr/>
          <p:nvPr/>
        </p:nvSpPr>
        <p:spPr>
          <a:xfrm>
            <a:off x="5840496" y="987552"/>
            <a:ext cx="591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800" b="1" kern="0" spc="80" dirty="0">
                <a:solidFill>
                  <a:srgbClr val="5B6660"/>
                </a:solidFill>
                <a:latin typeface="Arial" pitchFamily="34" charset="0"/>
              </a:rPr>
              <a:t>READ UPWARD  ·  each layer enables the layer above it</a:t>
            </a:r>
          </a:p>
        </p:txBody>
      </p:sp>
      <p:sp>
        <p:nvSpPr>
          <p:cNvPr id="10" name="Band4BG"/>
          <p:cNvSpPr/>
          <p:nvPr/>
        </p:nvSpPr>
        <p:spPr>
          <a:xfrm>
            <a:off x="5840496" y="5222000"/>
            <a:ext cx="5914056" cy="1216240"/>
          </a:xfrm>
          <a:prstGeom prst="roundRect">
            <a:avLst>
              <a:gd name="adj" fmla="val 3500"/>
            </a:avLst>
          </a:prstGeom>
          <a:solidFill>
            <a:srgbClr val="854F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Band4Label"/>
          <p:cNvSpPr/>
          <p:nvPr/>
        </p:nvSpPr>
        <p:spPr>
          <a:xfrm>
            <a:off x="6022296" y="5285000"/>
            <a:ext cx="5550456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800" b="1" kern="0" spc="100" dirty="0">
                <a:solidFill>
                  <a:srgbClr val="FAEEDA"/>
                </a:solidFill>
                <a:latin typeface="Arial" pitchFamily="34" charset="0"/>
              </a:rPr>
              <a:t>TECHNOLOGY LAYER  ·  THE FOUNDATION</a:t>
            </a:r>
          </a:p>
        </p:txBody>
      </p:sp>
      <p:sp>
        <p:nvSpPr>
          <p:cNvPr id="12" name="Band4Title"/>
          <p:cNvSpPr/>
          <p:nvPr/>
        </p:nvSpPr>
        <p:spPr>
          <a:xfrm>
            <a:off x="6022296" y="5490000"/>
            <a:ext cx="5550456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1400" b="1" dirty="0">
                <a:solidFill>
                  <a:srgbClr val="FFFFFF"/>
                </a:solidFill>
                <a:latin typeface="Arial" pitchFamily="34" charset="0"/>
              </a:rPr>
              <a:t>Digital Solutions &amp; Digital Public Infrastructure</a:t>
            </a:r>
          </a:p>
        </p:txBody>
      </p:sp>
      <p:sp>
        <p:nvSpPr>
          <p:cNvPr id="13" name="Band4Desc"/>
          <p:cNvSpPr/>
          <p:nvPr/>
        </p:nvSpPr>
        <p:spPr>
          <a:xfrm>
            <a:off x="6022296" y="5780000"/>
            <a:ext cx="5550456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ZA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</a:rPr>
              <a:t>The infrastructure layer — shared platforms and APIs that eliminate silos, enable secure interoperability, and drastically lower transactional cost.</a:t>
            </a:r>
          </a:p>
        </p:txBody>
      </p:sp>
      <p:sp>
        <p:nvSpPr>
          <p:cNvPr id="14" name="Arrow43"/>
          <p:cNvSpPr/>
          <p:nvPr/>
        </p:nvSpPr>
        <p:spPr>
          <a:xfrm>
            <a:off x="8697024" y="4990000"/>
            <a:ext cx="228600" cy="2500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Band3BG"/>
          <p:cNvSpPr/>
          <p:nvPr/>
        </p:nvSpPr>
        <p:spPr>
          <a:xfrm>
            <a:off x="5840496" y="3760000"/>
            <a:ext cx="5914056" cy="1216240"/>
          </a:xfrm>
          <a:prstGeom prst="roundRect">
            <a:avLst>
              <a:gd name="adj" fmla="val 3500"/>
            </a:avLst>
          </a:prstGeom>
          <a:solidFill>
            <a:srgbClr val="185FA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Band3Label"/>
          <p:cNvSpPr/>
          <p:nvPr/>
        </p:nvSpPr>
        <p:spPr>
          <a:xfrm>
            <a:off x="6022296" y="3823000"/>
            <a:ext cx="5550456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800" b="1" kern="0" spc="100" dirty="0">
                <a:solidFill>
                  <a:srgbClr val="E6F1FB"/>
                </a:solidFill>
                <a:latin typeface="Arial" pitchFamily="34" charset="0"/>
              </a:rPr>
              <a:t>IS SOLUTION LAYER  ·  THE METHOD</a:t>
            </a:r>
          </a:p>
        </p:txBody>
      </p:sp>
      <p:sp>
        <p:nvSpPr>
          <p:cNvPr id="17" name="Band3Title"/>
          <p:cNvSpPr/>
          <p:nvPr/>
        </p:nvSpPr>
        <p:spPr>
          <a:xfrm>
            <a:off x="6022296" y="4028000"/>
            <a:ext cx="5550456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1400" b="1" dirty="0">
                <a:solidFill>
                  <a:srgbClr val="FFFFFF"/>
                </a:solidFill>
                <a:latin typeface="Arial" pitchFamily="34" charset="0"/>
              </a:rPr>
              <a:t>Enterprise Architecture</a:t>
            </a:r>
          </a:p>
        </p:txBody>
      </p:sp>
      <p:sp>
        <p:nvSpPr>
          <p:cNvPr id="18" name="Band3Desc"/>
          <p:cNvSpPr/>
          <p:nvPr/>
        </p:nvSpPr>
        <p:spPr>
          <a:xfrm>
            <a:off x="6022296" y="4318000"/>
            <a:ext cx="5550456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ZA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</a:rPr>
              <a:t>Catalogues and assesses 15 elements across five ArchiMate layers — the structural scaffold that makes delivery possible and traces every missed target to its root cause</a:t>
            </a:r>
            <a:r>
              <a:rPr lang="en-ZA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</a:rPr>
              <a:t>. </a:t>
            </a:r>
            <a:r>
              <a:rPr lang="en-ZA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</a:rPr>
              <a:t>Catalogues and assesses the organisational readiness for change, 11 enabling environment factors</a:t>
            </a:r>
            <a:endParaRPr lang="en-ZA" sz="900" dirty="0">
              <a:solidFill>
                <a:srgbClr val="FFFFFF">
                  <a:alpha val="85000"/>
                </a:srgbClr>
              </a:solidFill>
              <a:latin typeface="Arial" pitchFamily="34" charset="0"/>
            </a:endParaRPr>
          </a:p>
        </p:txBody>
      </p:sp>
      <p:sp>
        <p:nvSpPr>
          <p:cNvPr id="19" name="Arrow32"/>
          <p:cNvSpPr/>
          <p:nvPr/>
        </p:nvSpPr>
        <p:spPr>
          <a:xfrm>
            <a:off x="8697024" y="3528000"/>
            <a:ext cx="228600" cy="2500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Band2BG"/>
          <p:cNvSpPr/>
          <p:nvPr/>
        </p:nvSpPr>
        <p:spPr>
          <a:xfrm>
            <a:off x="5840496" y="2298000"/>
            <a:ext cx="5914056" cy="1216240"/>
          </a:xfrm>
          <a:prstGeom prst="roundRect">
            <a:avLst>
              <a:gd name="adj" fmla="val 35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Band2Label"/>
          <p:cNvSpPr/>
          <p:nvPr/>
        </p:nvSpPr>
        <p:spPr>
          <a:xfrm>
            <a:off x="6022296" y="2361000"/>
            <a:ext cx="5550456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800" b="1" kern="0" spc="100" dirty="0">
                <a:solidFill>
                  <a:srgbClr val="8FD9C0"/>
                </a:solidFill>
                <a:latin typeface="Arial" pitchFamily="34" charset="0"/>
              </a:rPr>
              <a:t>BUSINESS LAYER  ·  THE PRACTICE</a:t>
            </a:r>
          </a:p>
        </p:txBody>
      </p:sp>
      <p:sp>
        <p:nvSpPr>
          <p:cNvPr id="22" name="Band2Title"/>
          <p:cNvSpPr/>
          <p:nvPr/>
        </p:nvSpPr>
        <p:spPr>
          <a:xfrm>
            <a:off x="6022296" y="2566000"/>
            <a:ext cx="5550456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1400" b="1" dirty="0">
                <a:solidFill>
                  <a:srgbClr val="FFFFFF"/>
                </a:solidFill>
                <a:latin typeface="Arial" pitchFamily="34" charset="0"/>
              </a:rPr>
              <a:t>Digital Transformation</a:t>
            </a:r>
          </a:p>
        </p:txBody>
      </p:sp>
      <p:sp>
        <p:nvSpPr>
          <p:cNvPr id="23" name="Band2Desc"/>
          <p:cNvSpPr/>
          <p:nvPr/>
        </p:nvSpPr>
        <p:spPr>
          <a:xfrm>
            <a:off x="6022296" y="2856000"/>
            <a:ext cx="5550456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ZA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</a:rPr>
              <a:t>The holistic practice — leverages architecture a prepared enabling environment and digital capabilities to drive comprehensive organisational evolution, sustained delivery capability, and inclusive citizen outcomes. Goes far beyond technology projects</a:t>
            </a:r>
            <a:r>
              <a:rPr lang="en-ZA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24" name="Arrow21"/>
          <p:cNvSpPr/>
          <p:nvPr/>
        </p:nvSpPr>
        <p:spPr>
          <a:xfrm>
            <a:off x="8697024" y="2066000"/>
            <a:ext cx="228600" cy="2500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Band1BG"/>
          <p:cNvSpPr/>
          <p:nvPr/>
        </p:nvSpPr>
        <p:spPr>
          <a:xfrm>
            <a:off x="5840496" y="836000"/>
            <a:ext cx="5914056" cy="1216240"/>
          </a:xfrm>
          <a:prstGeom prst="roundRect">
            <a:avLst>
              <a:gd name="adj" fmla="val 3500"/>
            </a:avLst>
          </a:prstGeom>
          <a:solidFill>
            <a:srgbClr val="08504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Band1Label"/>
          <p:cNvSpPr/>
          <p:nvPr/>
        </p:nvSpPr>
        <p:spPr>
          <a:xfrm>
            <a:off x="6022296" y="899000"/>
            <a:ext cx="5550456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800" b="1" kern="0" spc="100" dirty="0">
                <a:solidFill>
                  <a:srgbClr val="8FD9C0"/>
                </a:solidFill>
                <a:latin typeface="Arial" pitchFamily="34" charset="0"/>
              </a:rPr>
              <a:t>MOTIVATION LAYER  ·  THE GOAL</a:t>
            </a:r>
          </a:p>
        </p:txBody>
      </p:sp>
      <p:sp>
        <p:nvSpPr>
          <p:cNvPr id="27" name="Band1Title"/>
          <p:cNvSpPr/>
          <p:nvPr/>
        </p:nvSpPr>
        <p:spPr>
          <a:xfrm>
            <a:off x="6022296" y="1104000"/>
            <a:ext cx="5550456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ZA" sz="1400" b="1" dirty="0">
                <a:solidFill>
                  <a:srgbClr val="FFFFFF"/>
                </a:solidFill>
                <a:latin typeface="Arial" pitchFamily="34" charset="0"/>
              </a:rPr>
              <a:t>Performance Excellence in Government</a:t>
            </a:r>
          </a:p>
        </p:txBody>
      </p:sp>
      <p:sp>
        <p:nvSpPr>
          <p:cNvPr id="28" name="Band1Desc"/>
          <p:cNvSpPr/>
          <p:nvPr/>
        </p:nvSpPr>
        <p:spPr>
          <a:xfrm>
            <a:off x="6022296" y="1394000"/>
            <a:ext cx="5550456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ZA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</a:rPr>
              <a:t>Exemplary, high-performing public institutions — built by design, not heroic effort — that deliver outcomes citizens feel, meet mandate commitments, and earn lasting public trust</a:t>
            </a:r>
            <a:r>
              <a:rPr lang="en-ZA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11338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government department succeed in its mandate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is measured at the top. It is produced by everything beneath it. Read upward to see what makes delivery possible; read downward to trace a missed target to the defect that caused it.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08504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621792" y="1133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D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MANDATE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131673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 &amp; enabling legislation  ·  NDP 2030  ·  MTSF  ·  Annual Performance Plan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89520" y="117043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C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department is required to achieve — and what Parliament, Treasury and the Auditor-General hold it to account for.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563624"/>
            <a:ext cx="219456" cy="192024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11274552" cy="1298448"/>
          </a:xfrm>
          <a:prstGeom prst="roundRect">
            <a:avLst>
              <a:gd name="adj" fmla="val 4225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621792" y="1837944"/>
            <a:ext cx="10945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WHERE SUCCESS IS MEASURED</a:t>
            </a:r>
            <a:r>
              <a:rPr lang="en-US" sz="9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MOTIVATION LAYER — the mandate expressed as three measurable ends. Everything below this line exists to move these three.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" y="2093976"/>
            <a:ext cx="353872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FCBF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Outcome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2157984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EEEDF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410712" y="2157984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31520" y="2340864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intended change in citizens' lives actually happening — indicator, baseline, target, trend, independently verifiable? Reported through the APP and DPME</a:t>
            </a:r>
            <a:r>
              <a:rPr lang="en-US" sz="100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25112" y="2093976"/>
            <a:ext cx="353872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FCBF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434840" y="213969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Client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2157984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EEEDF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7114032" y="2157984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434840" y="2340864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serving the people we are mandated to serve — what share of the eligible population, and are rural, indigent and digitally excluded cohorts being reached? Batho Pele; PEPUDA</a:t>
            </a:r>
            <a:r>
              <a:rPr lang="en-US" sz="85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28432" y="2093976"/>
            <a:ext cx="353872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FCBF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8138160" y="213969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Value Proposition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817352" y="2157984"/>
            <a:ext cx="640080" cy="173736"/>
          </a:xfrm>
          <a:prstGeom prst="roundRect">
            <a:avLst>
              <a:gd name="adj" fmla="val 21053"/>
            </a:avLst>
          </a:prstGeom>
          <a:solidFill>
            <a:srgbClr val="EEEDF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10817352" y="2157984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138160" y="2340864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person or business get value that met or exceeded what they expected — and was the benefit worth the time, travel, documents and cost it took them to obtain it?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2990088"/>
            <a:ext cx="219456" cy="20116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11274552" cy="2029968"/>
          </a:xfrm>
          <a:prstGeom prst="roundRect">
            <a:avLst>
              <a:gd name="adj" fmla="val 2703"/>
            </a:avLst>
          </a:prstGeom>
          <a:solidFill>
            <a:srgbClr val="F6F8F7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21792" y="3273552"/>
            <a:ext cx="10945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WHAT MAKES DELIVERY POSSIBLE</a:t>
            </a:r>
            <a:r>
              <a:rPr lang="en-US" sz="9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THE ENTERPRISE ARCHITECTURE — the twelve elements that produce the outcome. A weakness in any one of them surfaces as a missed target above.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" y="3529584"/>
            <a:ext cx="2626614" cy="402336"/>
          </a:xfrm>
          <a:prstGeom prst="roundRect">
            <a:avLst>
              <a:gd name="adj" fmla="val 9091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713232" y="3557016"/>
            <a:ext cx="24437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" y="3721608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abilities must be built and funded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" y="4005072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FDECE3"/>
          </a:solidFill>
          <a:ln w="762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713232" y="4005072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Capability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" y="4306824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FDECE3"/>
          </a:solidFill>
          <a:ln w="762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713232" y="4306824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Location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94710" y="3529584"/>
            <a:ext cx="2626614" cy="402336"/>
          </a:xfrm>
          <a:prstGeom prst="roundRect">
            <a:avLst>
              <a:gd name="adj" fmla="val 9091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3486150" y="3557016"/>
            <a:ext cx="24437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86150" y="3721608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value is delivered, and how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94710" y="4005072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762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3486150" y="4005072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Product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94710" y="4306824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762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3486150" y="4306824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Service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94710" y="4608576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762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3486150" y="4608576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Process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67628" y="3529584"/>
            <a:ext cx="2626614" cy="402336"/>
          </a:xfrm>
          <a:prstGeom prst="roundRect">
            <a:avLst>
              <a:gd name="adj" fmla="val 9091"/>
            </a:avLst>
          </a:prstGeom>
          <a:solidFill>
            <a:srgbClr val="185FA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6259068" y="3557016"/>
            <a:ext cx="24437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SOLUTION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59068" y="3721608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digital capability supports delivery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67628" y="4005072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E6F1FB"/>
          </a:solidFill>
          <a:ln w="762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6259068" y="4005072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Application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67628" y="4306824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E6F1FB"/>
          </a:solidFill>
          <a:ln w="762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6259068" y="4306824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Data Access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67628" y="4608576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E6F1FB"/>
          </a:solidFill>
          <a:ln w="762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Text 51"/>
          <p:cNvSpPr/>
          <p:nvPr/>
        </p:nvSpPr>
        <p:spPr>
          <a:xfrm>
            <a:off x="6259068" y="4608576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Master Data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67628" y="4910328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E6F1FB"/>
          </a:solidFill>
          <a:ln w="762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6259068" y="4910328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Transaction Data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940546" y="3529584"/>
            <a:ext cx="2626614" cy="402336"/>
          </a:xfrm>
          <a:prstGeom prst="roundRect">
            <a:avLst>
              <a:gd name="adj" fmla="val 9091"/>
            </a:avLst>
          </a:prstGeom>
          <a:solidFill>
            <a:srgbClr val="854F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7" name="Text 55"/>
          <p:cNvSpPr/>
          <p:nvPr/>
        </p:nvSpPr>
        <p:spPr>
          <a:xfrm>
            <a:off x="9031986" y="3557016"/>
            <a:ext cx="24437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031986" y="3721608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infrastructure underpins the solutions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940546" y="4005072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FAEEDA"/>
          </a:solidFill>
          <a:ln w="762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0" name="Text 58"/>
          <p:cNvSpPr/>
          <p:nvPr/>
        </p:nvSpPr>
        <p:spPr>
          <a:xfrm>
            <a:off x="9031986" y="4005072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Technology Internal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940546" y="4306824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FAEEDA"/>
          </a:solidFill>
          <a:ln w="762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9031986" y="4306824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Technology Integration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940546" y="4608576"/>
            <a:ext cx="2626614" cy="256032"/>
          </a:xfrm>
          <a:prstGeom prst="roundRect">
            <a:avLst>
              <a:gd name="adj" fmla="val 14286"/>
            </a:avLst>
          </a:prstGeom>
          <a:solidFill>
            <a:srgbClr val="FAEEDA"/>
          </a:solidFill>
          <a:ln w="762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4" name="Text 62"/>
          <p:cNvSpPr/>
          <p:nvPr/>
        </p:nvSpPr>
        <p:spPr>
          <a:xfrm>
            <a:off x="9031986" y="4608576"/>
            <a:ext cx="2443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Technology External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989320" y="5166360"/>
            <a:ext cx="219456" cy="192024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Shape 64"/>
          <p:cNvSpPr/>
          <p:nvPr/>
        </p:nvSpPr>
        <p:spPr>
          <a:xfrm>
            <a:off x="457200" y="5367528"/>
            <a:ext cx="11274552" cy="1078992"/>
          </a:xfrm>
          <a:prstGeom prst="roundRect">
            <a:avLst>
              <a:gd name="adj" fmla="val 5085"/>
            </a:avLst>
          </a:prstGeom>
          <a:solidFill>
            <a:srgbClr val="EEF1F4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621792" y="5431536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WHAT MAKES CHANGE POSSIBLE</a:t>
            </a:r>
            <a:r>
              <a:rPr lang="en-US" sz="9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THE ENABLING ENVIRONMENT — eleven conditions that determine whether the department can rebuild the architecture above at all. Without these, no roadmap is deliverable.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21792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69" name="Text 67"/>
          <p:cNvSpPr/>
          <p:nvPr/>
        </p:nvSpPr>
        <p:spPr>
          <a:xfrm>
            <a:off x="649224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Policy &amp;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623060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71" name="Text 69"/>
          <p:cNvSpPr/>
          <p:nvPr/>
        </p:nvSpPr>
        <p:spPr>
          <a:xfrm>
            <a:off x="1650492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Workforce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skills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624328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73" name="Text 71"/>
          <p:cNvSpPr/>
          <p:nvPr/>
        </p:nvSpPr>
        <p:spPr>
          <a:xfrm>
            <a:off x="2651760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Citizen digital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empowerment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25596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75" name="Text 73"/>
          <p:cNvSpPr/>
          <p:nvPr/>
        </p:nvSpPr>
        <p:spPr>
          <a:xfrm>
            <a:off x="3653028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Executive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26864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77" name="Text 75"/>
          <p:cNvSpPr/>
          <p:nvPr/>
        </p:nvSpPr>
        <p:spPr>
          <a:xfrm>
            <a:off x="4654296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Funding &amp;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628132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79" name="Text 77"/>
          <p:cNvSpPr/>
          <p:nvPr/>
        </p:nvSpPr>
        <p:spPr>
          <a:xfrm>
            <a:off x="5655564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Procurement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629400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81" name="Text 79"/>
          <p:cNvSpPr/>
          <p:nvPr/>
        </p:nvSpPr>
        <p:spPr>
          <a:xfrm>
            <a:off x="6656832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Data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stewardship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630668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83" name="Text 81"/>
          <p:cNvSpPr/>
          <p:nvPr/>
        </p:nvSpPr>
        <p:spPr>
          <a:xfrm>
            <a:off x="7658100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Security,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trust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631936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85" name="Text 83"/>
          <p:cNvSpPr/>
          <p:nvPr/>
        </p:nvSpPr>
        <p:spPr>
          <a:xfrm>
            <a:off x="8659368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Partnership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ecosystem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633204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C3CBD3"/>
            </a:solidFill>
            <a:prstDash val="solid"/>
          </a:ln>
        </p:spPr>
        <p:txBody>
          <a:bodyPr/>
          <a:lstStyle/>
          <a:p>
            <a:endParaRPr lang="en-ZA" sz="900"/>
          </a:p>
        </p:txBody>
      </p:sp>
      <p:sp>
        <p:nvSpPr>
          <p:cNvPr id="87" name="Text 85"/>
          <p:cNvSpPr/>
          <p:nvPr/>
        </p:nvSpPr>
        <p:spPr>
          <a:xfrm>
            <a:off x="9660636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Change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appetite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0634472" y="5678424"/>
            <a:ext cx="932688" cy="402336"/>
          </a:xfrm>
          <a:prstGeom prst="roundRect">
            <a:avLst>
              <a:gd name="adj" fmla="val 9091"/>
            </a:avLst>
          </a:prstGeom>
          <a:solidFill>
            <a:srgbClr val="FDECE3"/>
          </a:solidFill>
          <a:ln w="15875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9" name="Text 87"/>
          <p:cNvSpPr/>
          <p:nvPr/>
        </p:nvSpPr>
        <p:spPr>
          <a:xfrm>
            <a:off x="10661904" y="567842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Change &amp;</a:t>
            </a:r>
            <a:endParaRPr lang="en-US" sz="6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capability</a:t>
            </a:r>
            <a:endParaRPr lang="en-US" sz="680" dirty="0"/>
          </a:p>
        </p:txBody>
      </p:sp>
      <p:sp>
        <p:nvSpPr>
          <p:cNvPr id="90" name="Text 88"/>
          <p:cNvSpPr/>
          <p:nvPr/>
        </p:nvSpPr>
        <p:spPr>
          <a:xfrm>
            <a:off x="621792" y="6126480"/>
            <a:ext cx="11090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GATE:  </a:t>
            </a:r>
            <a:r>
              <a:rPr lang="en-US" sz="800" b="1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11 — Change &amp; delivery capability — must reach Established before any architecture roadmap is deliverable. A department without standing delivery muscle cannot execute the plan it has just paid for.</a:t>
            </a:r>
            <a:endParaRPr lang="en-US" sz="800" b="1" dirty="0"/>
          </a:p>
        </p:txBody>
      </p:sp>
      <p:sp>
        <p:nvSpPr>
          <p:cNvPr id="91" name="Text 89"/>
          <p:cNvSpPr/>
          <p:nvPr/>
        </p:nvSpPr>
        <p:spPr>
          <a:xfrm>
            <a:off x="437606" y="651052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upward: </a:t>
            </a:r>
            <a:r>
              <a:rPr lang="en-US" sz="9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enabling environment makes change possible; the architecture makes delivery possible; the outcome is what the mandate is judged on.     </a:t>
            </a: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downward: </a:t>
            </a:r>
            <a:r>
              <a:rPr lang="en-US" sz="9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missed target is traced to a named architectural defect, and to the readiness gap that allowed it to persist.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784</Words>
  <Application>Microsoft Office PowerPoint</Application>
  <PresentationFormat>Widescreen</PresentationFormat>
  <Paragraphs>81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Eugene Sampson</cp:lastModifiedBy>
  <cp:revision>9</cp:revision>
  <dcterms:created xsi:type="dcterms:W3CDTF">2026-07-14T04:11:20Z</dcterms:created>
  <dcterms:modified xsi:type="dcterms:W3CDTF">2026-07-22T18:10:21Z</dcterms:modified>
</cp:coreProperties>
</file>